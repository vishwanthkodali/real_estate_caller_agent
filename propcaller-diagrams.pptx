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86200" y="822960"/>
            <a:ext cx="1371600" cy="13716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86200" y="8229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📞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PropCaller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Real Estate Caller Platform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ER Diagram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" y="4206240"/>
            <a:ext cx="13716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4206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FastAPI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50008" y="4206240"/>
            <a:ext cx="13716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0008" y="4206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React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86200" y="4206240"/>
            <a:ext cx="13716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4206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PostgreSQL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22392" y="4206240"/>
            <a:ext cx="13716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2392" y="4206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ElevenLabs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58584" y="4206240"/>
            <a:ext cx="13716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4206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GPT-4o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from document ingestion to AI-powered outbound calls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" y="841248"/>
            <a:ext cx="182880" cy="822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16200000">
            <a:off x="91440" y="841248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FRONTEND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91440" y="2029968"/>
            <a:ext cx="182880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 rot="16200000">
            <a:off x="91440" y="2029968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BACKEND API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91440" y="3172968"/>
            <a:ext cx="18288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 rot="16200000">
            <a:off x="91440" y="3172968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SERVICES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91440" y="4224528"/>
            <a:ext cx="182880" cy="8229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16200000">
            <a:off x="91440" y="4224528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EXTERNAL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11480" y="841248"/>
            <a:ext cx="12801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841248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Login 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Register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847088" y="841248"/>
            <a:ext cx="12801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47088" y="841248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Projects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Documents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82696" y="841248"/>
            <a:ext cx="12801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82696" y="841248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Campaigns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18304" y="841248"/>
            <a:ext cx="12801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841248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Prospects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53912" y="841248"/>
            <a:ext cx="12801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53912" y="841248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Call Logs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Chat UI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589520" y="841248"/>
            <a:ext cx="12801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841248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Dashboard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0" y="1609344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3749040" y="17373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axios / JWT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11480" y="2029968"/>
            <a:ext cx="12801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029968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auth.py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JWT Auth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847088" y="2029968"/>
            <a:ext cx="12801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47088" y="2029968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projects.py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CRUD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82696" y="2029968"/>
            <a:ext cx="12801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82696" y="2029968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documents.py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Upload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18304" y="2029968"/>
            <a:ext cx="12801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18304" y="2029968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campaigns.py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Agent Config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153912" y="2029968"/>
            <a:ext cx="12801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53912" y="2029968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calls.py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Call Engine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589520" y="2029968"/>
            <a:ext cx="12801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0" y="2029968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dashboard.py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Stats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0" y="2798064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11480" y="3172968"/>
            <a:ext cx="27432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172968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document_processor.py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GPT-4o Vision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PDF / DOCX / Image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337560" y="3172968"/>
            <a:ext cx="32918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7560" y="3172968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elevenlabs_service.py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Agent Creation · TTS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Outbound Calls · Transcript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812280" y="3172968"/>
            <a:ext cx="246888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12280" y="317296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SQLAlchemy ORM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PostgreSQL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Session Management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72000" y="3941064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411480" y="4224528"/>
            <a:ext cx="19202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2245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OpenAI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GPT-4o API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60320" y="4224528"/>
            <a:ext cx="19202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0" y="42245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ElevenLabs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Conv AI + TTS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09160" y="4224528"/>
            <a:ext cx="19202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42245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Twilio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Phone Calls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58000" y="4224528"/>
            <a:ext cx="19202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0" y="42245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PostgreSQL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Database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Call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document upload to AI conversation and analytics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9659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64008" cy="14630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51560"/>
            <a:ext cx="347472" cy="3474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51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1051560"/>
            <a:ext cx="1307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Upload Document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5087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PDF / DOCX / Image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uploaded by developer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31720" y="1645920"/>
            <a:ext cx="1828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914400"/>
            <a:ext cx="19659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914400"/>
            <a:ext cx="64008" cy="1463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1051560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051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81528" y="1051560"/>
            <a:ext cx="1307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GPT-4o Extraction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15087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Vision model extracts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project knowledge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80560" y="1645920"/>
            <a:ext cx="18288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914400"/>
            <a:ext cx="19659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914400"/>
            <a:ext cx="64008" cy="1463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1051560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051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30368" y="1051560"/>
            <a:ext cx="1307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Create Campaign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15087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Inject knowledge into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ElevenLabs agent prompt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29400" y="1645920"/>
            <a:ext cx="18288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914400"/>
            <a:ext cx="19659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12280" y="914400"/>
            <a:ext cx="64008" cy="1463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0" y="1051560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1051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79208" y="1051560"/>
            <a:ext cx="1307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Add Prospects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440" y="15087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CSV bulk upload 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manual entry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795260" y="2377440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365760" y="2606040"/>
            <a:ext cx="19659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2606040"/>
            <a:ext cx="64008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274320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2743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32688" y="2743200"/>
            <a:ext cx="1307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Start Calls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32004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Background task queues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each prospect call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331720" y="3337560"/>
            <a:ext cx="1828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14600" y="2606040"/>
            <a:ext cx="19659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14600" y="2606040"/>
            <a:ext cx="64008" cy="14630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51760" y="2743200"/>
            <a:ext cx="347472" cy="34747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51760" y="2743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081528" y="2743200"/>
            <a:ext cx="1307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ElevenLabs + Twilio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651760" y="32004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 voice conversation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with prospect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480560" y="3337560"/>
            <a:ext cx="182880" cy="0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2606040"/>
            <a:ext cx="19659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2606040"/>
            <a:ext cx="64008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00600" y="274320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2743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30368" y="2743200"/>
            <a:ext cx="1307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Transcript &amp; Intent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00600" y="32004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Keyword analysis sets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outcome + interest level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629400" y="3337560"/>
            <a:ext cx="18288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12280" y="2606040"/>
            <a:ext cx="19659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12280" y="2606040"/>
            <a:ext cx="64008" cy="14630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49440" y="2743200"/>
            <a:ext cx="347472" cy="3474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49440" y="2743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379208" y="2743200"/>
            <a:ext cx="1307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Analytics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949440" y="32004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Stats, hot prospects,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audio playback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PostgreSQL schema — all tables, columns, and relationships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6304" y="786384"/>
            <a:ext cx="2194560" cy="1728216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749808"/>
            <a:ext cx="2194560" cy="1728216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" y="749808"/>
            <a:ext cx="2194560" cy="2926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74980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6304" y="1097280"/>
            <a:ext cx="201168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" y="1097280"/>
            <a:ext cx="201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</a:rPr>
              <a:t>PK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384048" y="10698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id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316736" y="1069848"/>
            <a:ext cx="9217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INTEGER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09728" y="1271016"/>
            <a:ext cx="2194560" cy="20116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27101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email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316736" y="1271016"/>
            <a:ext cx="9217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VARCHAR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84048" y="147218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full_name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316736" y="1472184"/>
            <a:ext cx="9217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VARCHAR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09728" y="1673352"/>
            <a:ext cx="2194560" cy="20116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16733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company_name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316736" y="1673352"/>
            <a:ext cx="9217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VARCHAR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84048" y="18745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rera_number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316736" y="1874520"/>
            <a:ext cx="9217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VARCHAR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09728" y="2075688"/>
            <a:ext cx="2194560" cy="20116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0756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hashed_password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316736" y="2075688"/>
            <a:ext cx="9217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VARCHAR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84048" y="227685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created_at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316736" y="2276856"/>
            <a:ext cx="9217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TIMESTAMP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596896" y="786384"/>
            <a:ext cx="2148840" cy="1527048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0" y="749808"/>
            <a:ext cx="2148840" cy="1527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0" y="749808"/>
            <a:ext cx="21488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33472" y="74980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96896" y="1097280"/>
            <a:ext cx="201168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96896" y="1097280"/>
            <a:ext cx="201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</a:rPr>
              <a:t>PK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2834640" y="1069848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id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742182" y="1069848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INTEGER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560320" y="1271016"/>
            <a:ext cx="2148840" cy="20116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96896" y="1298448"/>
            <a:ext cx="201168" cy="1463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96896" y="1298448"/>
            <a:ext cx="201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</a:rPr>
              <a:t>FK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834640" y="1271016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owner_id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742182" y="1271016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INTEGER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834640" y="1472184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name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742182" y="1472184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VARCHAR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560320" y="1673352"/>
            <a:ext cx="2148840" cy="20116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4640" y="1673352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location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742182" y="1673352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VARCHAR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834640" y="1874520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description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742182" y="1874520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TEXT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2560320" y="2075688"/>
            <a:ext cx="2148840" cy="20116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34640" y="2075688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created_at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742182" y="2075688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TIMESTAMP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020056" y="786384"/>
            <a:ext cx="2148840" cy="1728216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83480" y="749808"/>
            <a:ext cx="2148840" cy="1728216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83480" y="749808"/>
            <a:ext cx="214884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56632" y="74980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documents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020056" y="1097280"/>
            <a:ext cx="201168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0056" y="1097280"/>
            <a:ext cx="201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</a:rPr>
              <a:t>PK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257800" y="1069848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id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165342" y="1069848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INTEGER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983480" y="1271016"/>
            <a:ext cx="2148840" cy="20116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20056" y="1298448"/>
            <a:ext cx="201168" cy="1463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0056" y="1298448"/>
            <a:ext cx="201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</a:rPr>
              <a:t>FK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257800" y="1271016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project_id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165342" y="1271016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INTEGER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257800" y="1472184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original_filename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165342" y="1472184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VARCHAR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983480" y="1673352"/>
            <a:ext cx="2148840" cy="20116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57800" y="1673352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file_path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165342" y="1673352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VARCHAR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257800" y="1874520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doc_type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165342" y="1874520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VARCHAR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983480" y="2075688"/>
            <a:ext cx="2148840" cy="20116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57800" y="2075688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extracted_text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165342" y="2075688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TEXT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257800" y="2276856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processing_status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165342" y="2276856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VARCHAR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46304" y="2825496"/>
            <a:ext cx="2194560" cy="2130552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9728" y="2788920"/>
            <a:ext cx="2194560" cy="2130552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9728" y="2788920"/>
            <a:ext cx="219456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82880" y="27889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campaigns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46304" y="3136392"/>
            <a:ext cx="201168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46304" y="3136392"/>
            <a:ext cx="201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</a:rPr>
              <a:t>PK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384048" y="31089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id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1316736" y="3108960"/>
            <a:ext cx="9217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INTEGER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109728" y="3310128"/>
            <a:ext cx="2194560" cy="20116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46304" y="3337560"/>
            <a:ext cx="201168" cy="1463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46304" y="3337560"/>
            <a:ext cx="201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</a:rPr>
              <a:t>FK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384048" y="33101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owner_id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1316736" y="3310128"/>
            <a:ext cx="9217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INTEGER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146304" y="3538728"/>
            <a:ext cx="201168" cy="1463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46304" y="3538728"/>
            <a:ext cx="201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</a:rPr>
              <a:t>FK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384048" y="351129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project_id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1316736" y="3511296"/>
            <a:ext cx="9217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INTEGER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109728" y="3712464"/>
            <a:ext cx="2194560" cy="20116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84048" y="37124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name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1316736" y="3712464"/>
            <a:ext cx="9217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VARCHAR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384048" y="39136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campaign_type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1316736" y="3913632"/>
            <a:ext cx="9217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ENUM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109728" y="4114800"/>
            <a:ext cx="2194560" cy="20116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84048" y="41148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status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1316736" y="4114800"/>
            <a:ext cx="9217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ENUM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384048" y="43159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elevenlabs_agent_id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1316736" y="4315968"/>
            <a:ext cx="9217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VARCHAR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109728" y="4517136"/>
            <a:ext cx="2194560" cy="20116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84048" y="45171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agent_system_prompt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1316736" y="4517136"/>
            <a:ext cx="9217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TEXT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384048" y="47183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voice_id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1316736" y="4718304"/>
            <a:ext cx="9217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VARCHAR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2596896" y="2825496"/>
            <a:ext cx="2148840" cy="1728216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560320" y="2788920"/>
            <a:ext cx="2148840" cy="1728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560320" y="2788920"/>
            <a:ext cx="2148840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633472" y="278892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prospects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2596896" y="3136392"/>
            <a:ext cx="201168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596896" y="3136392"/>
            <a:ext cx="201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</a:rPr>
              <a:t>PK</a:t>
            </a:r>
            <a:endParaRPr lang="en-US" sz="600" dirty="0"/>
          </a:p>
        </p:txBody>
      </p:sp>
      <p:sp>
        <p:nvSpPr>
          <p:cNvPr id="114" name="Text 112"/>
          <p:cNvSpPr/>
          <p:nvPr/>
        </p:nvSpPr>
        <p:spPr>
          <a:xfrm>
            <a:off x="2834640" y="3108960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id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3742182" y="3108960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INTEGER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2560320" y="3310128"/>
            <a:ext cx="2148840" cy="20116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596896" y="3337560"/>
            <a:ext cx="201168" cy="1463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596896" y="3337560"/>
            <a:ext cx="201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</a:rPr>
              <a:t>FK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2834640" y="3310128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campaign_id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3742182" y="3310128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INTEGER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2834640" y="3511296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name</a:t>
            </a:r>
            <a:endParaRPr lang="en-US" sz="750" dirty="0"/>
          </a:p>
        </p:txBody>
      </p:sp>
      <p:sp>
        <p:nvSpPr>
          <p:cNvPr id="122" name="Text 120"/>
          <p:cNvSpPr/>
          <p:nvPr/>
        </p:nvSpPr>
        <p:spPr>
          <a:xfrm>
            <a:off x="3742182" y="3511296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VARCHAR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2560320" y="3712464"/>
            <a:ext cx="2148840" cy="20116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834640" y="3712464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phone</a:t>
            </a:r>
            <a:endParaRPr lang="en-US" sz="750" dirty="0"/>
          </a:p>
        </p:txBody>
      </p:sp>
      <p:sp>
        <p:nvSpPr>
          <p:cNvPr id="125" name="Text 123"/>
          <p:cNvSpPr/>
          <p:nvPr/>
        </p:nvSpPr>
        <p:spPr>
          <a:xfrm>
            <a:off x="3742182" y="3712464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VARCHAR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2834640" y="3913632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email</a:t>
            </a:r>
            <a:endParaRPr lang="en-US" sz="750" dirty="0"/>
          </a:p>
        </p:txBody>
      </p:sp>
      <p:sp>
        <p:nvSpPr>
          <p:cNvPr id="127" name="Text 125"/>
          <p:cNvSpPr/>
          <p:nvPr/>
        </p:nvSpPr>
        <p:spPr>
          <a:xfrm>
            <a:off x="3742182" y="3913632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VARCHAR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2560320" y="4114800"/>
            <a:ext cx="2148840" cy="20116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834640" y="4114800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status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3742182" y="4114800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ENUM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2834640" y="4315968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notes</a:t>
            </a:r>
            <a:endParaRPr lang="en-US" sz="750" dirty="0"/>
          </a:p>
        </p:txBody>
      </p:sp>
      <p:sp>
        <p:nvSpPr>
          <p:cNvPr id="132" name="Text 130"/>
          <p:cNvSpPr/>
          <p:nvPr/>
        </p:nvSpPr>
        <p:spPr>
          <a:xfrm>
            <a:off x="3742182" y="4315968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TEXT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5020056" y="2825496"/>
            <a:ext cx="2148840" cy="2130552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983480" y="2788920"/>
            <a:ext cx="2148840" cy="2130552"/>
          </a:xfrm>
          <a:prstGeom prst="rect">
            <a:avLst/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983480" y="2788920"/>
            <a:ext cx="2148840" cy="2926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056632" y="278892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calls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5020056" y="3136392"/>
            <a:ext cx="201168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020056" y="3136392"/>
            <a:ext cx="201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</a:rPr>
              <a:t>PK</a:t>
            </a:r>
            <a:endParaRPr lang="en-US" sz="600" dirty="0"/>
          </a:p>
        </p:txBody>
      </p:sp>
      <p:sp>
        <p:nvSpPr>
          <p:cNvPr id="139" name="Text 137"/>
          <p:cNvSpPr/>
          <p:nvPr/>
        </p:nvSpPr>
        <p:spPr>
          <a:xfrm>
            <a:off x="5257800" y="3108960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id</a:t>
            </a:r>
            <a:endParaRPr lang="en-US" sz="750" dirty="0"/>
          </a:p>
        </p:txBody>
      </p:sp>
      <p:sp>
        <p:nvSpPr>
          <p:cNvPr id="140" name="Text 138"/>
          <p:cNvSpPr/>
          <p:nvPr/>
        </p:nvSpPr>
        <p:spPr>
          <a:xfrm>
            <a:off x="6165342" y="3108960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INTEGER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4983480" y="3310128"/>
            <a:ext cx="2148840" cy="20116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020056" y="3337560"/>
            <a:ext cx="201168" cy="1463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020056" y="3337560"/>
            <a:ext cx="201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</a:rPr>
              <a:t>FK</a:t>
            </a:r>
            <a:endParaRPr lang="en-US" sz="600" dirty="0"/>
          </a:p>
        </p:txBody>
      </p:sp>
      <p:sp>
        <p:nvSpPr>
          <p:cNvPr id="144" name="Text 142"/>
          <p:cNvSpPr/>
          <p:nvPr/>
        </p:nvSpPr>
        <p:spPr>
          <a:xfrm>
            <a:off x="5257800" y="3310128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campaign_id</a:t>
            </a:r>
            <a:endParaRPr lang="en-US" sz="750" dirty="0"/>
          </a:p>
        </p:txBody>
      </p:sp>
      <p:sp>
        <p:nvSpPr>
          <p:cNvPr id="145" name="Text 143"/>
          <p:cNvSpPr/>
          <p:nvPr/>
        </p:nvSpPr>
        <p:spPr>
          <a:xfrm>
            <a:off x="6165342" y="3310128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INTEGER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5020056" y="3538728"/>
            <a:ext cx="201168" cy="1463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5020056" y="3538728"/>
            <a:ext cx="201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</a:rPr>
              <a:t>FK</a:t>
            </a:r>
            <a:endParaRPr lang="en-US" sz="600" dirty="0"/>
          </a:p>
        </p:txBody>
      </p:sp>
      <p:sp>
        <p:nvSpPr>
          <p:cNvPr id="148" name="Text 146"/>
          <p:cNvSpPr/>
          <p:nvPr/>
        </p:nvSpPr>
        <p:spPr>
          <a:xfrm>
            <a:off x="5257800" y="3511296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prospect_id</a:t>
            </a:r>
            <a:endParaRPr lang="en-US" sz="750" dirty="0"/>
          </a:p>
        </p:txBody>
      </p:sp>
      <p:sp>
        <p:nvSpPr>
          <p:cNvPr id="149" name="Text 147"/>
          <p:cNvSpPr/>
          <p:nvPr/>
        </p:nvSpPr>
        <p:spPr>
          <a:xfrm>
            <a:off x="6165342" y="3511296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INTEGER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4983480" y="3712464"/>
            <a:ext cx="2148840" cy="20116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5257800" y="3712464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status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6165342" y="3712464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ENUM</a:t>
            </a:r>
            <a:endParaRPr lang="en-US" sz="700" dirty="0"/>
          </a:p>
        </p:txBody>
      </p:sp>
      <p:sp>
        <p:nvSpPr>
          <p:cNvPr id="153" name="Text 151"/>
          <p:cNvSpPr/>
          <p:nvPr/>
        </p:nvSpPr>
        <p:spPr>
          <a:xfrm>
            <a:off x="5257800" y="3913632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outcome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6165342" y="3913632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ENUM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4983480" y="4114800"/>
            <a:ext cx="2148840" cy="20116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257800" y="4114800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interest_level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6165342" y="4114800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INTEGER</a:t>
            </a:r>
            <a:endParaRPr lang="en-US" sz="700" dirty="0"/>
          </a:p>
        </p:txBody>
      </p:sp>
      <p:sp>
        <p:nvSpPr>
          <p:cNvPr id="158" name="Text 156"/>
          <p:cNvSpPr/>
          <p:nvPr/>
        </p:nvSpPr>
        <p:spPr>
          <a:xfrm>
            <a:off x="5257800" y="4315968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elevenlabs_conv_id</a:t>
            </a:r>
            <a:endParaRPr lang="en-US" sz="750" dirty="0"/>
          </a:p>
        </p:txBody>
      </p:sp>
      <p:sp>
        <p:nvSpPr>
          <p:cNvPr id="159" name="Text 157"/>
          <p:cNvSpPr/>
          <p:nvPr/>
        </p:nvSpPr>
        <p:spPr>
          <a:xfrm>
            <a:off x="6165342" y="4315968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VARCHAR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4983480" y="4517136"/>
            <a:ext cx="2148840" cy="20116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5257800" y="4517136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transcript</a:t>
            </a:r>
            <a:endParaRPr lang="en-US" sz="750" dirty="0"/>
          </a:p>
        </p:txBody>
      </p:sp>
      <p:sp>
        <p:nvSpPr>
          <p:cNvPr id="162" name="Text 160"/>
          <p:cNvSpPr/>
          <p:nvPr/>
        </p:nvSpPr>
        <p:spPr>
          <a:xfrm>
            <a:off x="6165342" y="4517136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TEXT</a:t>
            </a:r>
            <a:endParaRPr lang="en-US" sz="700" dirty="0"/>
          </a:p>
        </p:txBody>
      </p:sp>
      <p:sp>
        <p:nvSpPr>
          <p:cNvPr id="163" name="Text 161"/>
          <p:cNvSpPr/>
          <p:nvPr/>
        </p:nvSpPr>
        <p:spPr>
          <a:xfrm>
            <a:off x="5257800" y="4718304"/>
            <a:ext cx="10744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</a:rPr>
              <a:t>duration_seconds</a:t>
            </a:r>
            <a:endParaRPr lang="en-US" sz="750" dirty="0"/>
          </a:p>
        </p:txBody>
      </p:sp>
      <p:sp>
        <p:nvSpPr>
          <p:cNvPr id="164" name="Text 162"/>
          <p:cNvSpPr/>
          <p:nvPr/>
        </p:nvSpPr>
        <p:spPr>
          <a:xfrm>
            <a:off x="6165342" y="4718304"/>
            <a:ext cx="90251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INTEGER</a:t>
            </a:r>
            <a:endParaRPr lang="en-US" sz="700" dirty="0"/>
          </a:p>
        </p:txBody>
      </p:sp>
      <p:sp>
        <p:nvSpPr>
          <p:cNvPr id="165" name="Shape 163"/>
          <p:cNvSpPr/>
          <p:nvPr/>
        </p:nvSpPr>
        <p:spPr>
          <a:xfrm>
            <a:off x="2304288" y="1234440"/>
            <a:ext cx="256032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dash"/>
          </a:ln>
        </p:spPr>
      </p:sp>
      <p:sp>
        <p:nvSpPr>
          <p:cNvPr id="166" name="Shape 164"/>
          <p:cNvSpPr/>
          <p:nvPr/>
        </p:nvSpPr>
        <p:spPr>
          <a:xfrm>
            <a:off x="658368" y="2542032"/>
            <a:ext cx="0" cy="246888"/>
          </a:xfrm>
          <a:prstGeom prst="line">
            <a:avLst/>
          </a:prstGeom>
          <a:noFill/>
          <a:ln w="15240">
            <a:solidFill>
              <a:srgbClr val="0EA5E9"/>
            </a:solidFill>
            <a:prstDash val="dash"/>
          </a:ln>
        </p:spPr>
      </p:sp>
      <p:sp>
        <p:nvSpPr>
          <p:cNvPr id="167" name="Shape 165"/>
          <p:cNvSpPr/>
          <p:nvPr/>
        </p:nvSpPr>
        <p:spPr>
          <a:xfrm>
            <a:off x="4709160" y="1234440"/>
            <a:ext cx="274320" cy="0"/>
          </a:xfrm>
          <a:prstGeom prst="line">
            <a:avLst/>
          </a:prstGeom>
          <a:noFill/>
          <a:ln w="15240">
            <a:solidFill>
              <a:srgbClr val="8B5CF6"/>
            </a:solidFill>
            <a:prstDash val="dash"/>
          </a:ln>
        </p:spPr>
      </p:sp>
      <p:sp>
        <p:nvSpPr>
          <p:cNvPr id="168" name="Shape 166"/>
          <p:cNvSpPr/>
          <p:nvPr/>
        </p:nvSpPr>
        <p:spPr>
          <a:xfrm>
            <a:off x="3127248" y="2542032"/>
            <a:ext cx="0" cy="246888"/>
          </a:xfrm>
          <a:prstGeom prst="line">
            <a:avLst/>
          </a:prstGeom>
          <a:noFill/>
          <a:ln w="15240">
            <a:solidFill>
              <a:srgbClr val="0EA5E9"/>
            </a:solidFill>
            <a:prstDash val="dash"/>
          </a:ln>
        </p:spPr>
      </p:sp>
      <p:sp>
        <p:nvSpPr>
          <p:cNvPr id="169" name="Shape 167"/>
          <p:cNvSpPr/>
          <p:nvPr/>
        </p:nvSpPr>
        <p:spPr>
          <a:xfrm>
            <a:off x="2304288" y="3383280"/>
            <a:ext cx="256032" cy="0"/>
          </a:xfrm>
          <a:prstGeom prst="line">
            <a:avLst/>
          </a:prstGeom>
          <a:noFill/>
          <a:ln w="15240">
            <a:solidFill>
              <a:srgbClr val="14B8A6"/>
            </a:solidFill>
            <a:prstDash val="dash"/>
          </a:ln>
        </p:spPr>
      </p:sp>
      <p:sp>
        <p:nvSpPr>
          <p:cNvPr id="170" name="Shape 168"/>
          <p:cNvSpPr/>
          <p:nvPr/>
        </p:nvSpPr>
        <p:spPr>
          <a:xfrm>
            <a:off x="4709160" y="3383280"/>
            <a:ext cx="274320" cy="0"/>
          </a:xfrm>
          <a:prstGeom prst="line">
            <a:avLst/>
          </a:prstGeom>
          <a:noFill/>
          <a:ln w="15240">
            <a:solidFill>
              <a:srgbClr val="F43F5E"/>
            </a:solidFill>
            <a:prstDash val="dash"/>
          </a:ln>
        </p:spPr>
      </p:sp>
      <p:sp>
        <p:nvSpPr>
          <p:cNvPr id="171" name="Shape 169"/>
          <p:cNvSpPr/>
          <p:nvPr/>
        </p:nvSpPr>
        <p:spPr>
          <a:xfrm>
            <a:off x="1188720" y="3401568"/>
            <a:ext cx="3794760" cy="0"/>
          </a:xfrm>
          <a:prstGeom prst="line">
            <a:avLst/>
          </a:prstGeom>
          <a:noFill/>
          <a:ln w="10160">
            <a:solidFill>
              <a:srgbClr val="F43F5E"/>
            </a:solidFill>
            <a:prstDash val="sysDash"/>
          </a:ln>
        </p:spPr>
      </p:sp>
      <p:sp>
        <p:nvSpPr>
          <p:cNvPr id="172" name="Text 170"/>
          <p:cNvSpPr/>
          <p:nvPr/>
        </p:nvSpPr>
        <p:spPr>
          <a:xfrm>
            <a:off x="2331720" y="1115568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0B981"/>
                </a:solidFill>
              </a:rPr>
              <a:t>1 : N</a:t>
            </a:r>
            <a:endParaRPr lang="en-US" sz="650" dirty="0"/>
          </a:p>
        </p:txBody>
      </p:sp>
      <p:sp>
        <p:nvSpPr>
          <p:cNvPr id="173" name="Text 171"/>
          <p:cNvSpPr/>
          <p:nvPr/>
        </p:nvSpPr>
        <p:spPr>
          <a:xfrm>
            <a:off x="4736592" y="1115568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5CF6"/>
                </a:solidFill>
              </a:rPr>
              <a:t>1 : N</a:t>
            </a:r>
            <a:endParaRPr lang="en-US" sz="650" dirty="0"/>
          </a:p>
        </p:txBody>
      </p:sp>
      <p:sp>
        <p:nvSpPr>
          <p:cNvPr id="174" name="Text 172"/>
          <p:cNvSpPr/>
          <p:nvPr/>
        </p:nvSpPr>
        <p:spPr>
          <a:xfrm>
            <a:off x="530352" y="2633472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EA5E9"/>
                </a:solidFill>
              </a:rPr>
              <a:t>1 : N</a:t>
            </a:r>
            <a:endParaRPr lang="en-US" sz="650" dirty="0"/>
          </a:p>
        </p:txBody>
      </p:sp>
      <p:sp>
        <p:nvSpPr>
          <p:cNvPr id="175" name="Text 173"/>
          <p:cNvSpPr/>
          <p:nvPr/>
        </p:nvSpPr>
        <p:spPr>
          <a:xfrm>
            <a:off x="2990088" y="2633472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EA5E9"/>
                </a:solidFill>
              </a:rPr>
              <a:t>1 : N</a:t>
            </a:r>
            <a:endParaRPr lang="en-US" sz="650" dirty="0"/>
          </a:p>
        </p:txBody>
      </p:sp>
      <p:sp>
        <p:nvSpPr>
          <p:cNvPr id="176" name="Text 174"/>
          <p:cNvSpPr/>
          <p:nvPr/>
        </p:nvSpPr>
        <p:spPr>
          <a:xfrm>
            <a:off x="2331720" y="3273552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4B8A6"/>
                </a:solidFill>
              </a:rPr>
              <a:t>1 : N</a:t>
            </a:r>
            <a:endParaRPr lang="en-US" sz="650" dirty="0"/>
          </a:p>
        </p:txBody>
      </p:sp>
      <p:sp>
        <p:nvSpPr>
          <p:cNvPr id="177" name="Text 175"/>
          <p:cNvSpPr/>
          <p:nvPr/>
        </p:nvSpPr>
        <p:spPr>
          <a:xfrm>
            <a:off x="4736592" y="3273552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43F5E"/>
                </a:solidFill>
              </a:rPr>
              <a:t>1 : N</a:t>
            </a:r>
            <a:endParaRPr lang="en-US" sz="650" dirty="0"/>
          </a:p>
        </p:txBody>
      </p:sp>
      <p:sp>
        <p:nvSpPr>
          <p:cNvPr id="178" name="Shape 176"/>
          <p:cNvSpPr/>
          <p:nvPr/>
        </p:nvSpPr>
        <p:spPr>
          <a:xfrm>
            <a:off x="7269480" y="777240"/>
            <a:ext cx="169164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7296912" y="79552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PK  Primary Key</a:t>
            </a:r>
            <a:endParaRPr lang="en-US" sz="750" dirty="0"/>
          </a:p>
        </p:txBody>
      </p:sp>
      <p:sp>
        <p:nvSpPr>
          <p:cNvPr id="180" name="Shape 178"/>
          <p:cNvSpPr/>
          <p:nvPr/>
        </p:nvSpPr>
        <p:spPr>
          <a:xfrm>
            <a:off x="7269480" y="1033272"/>
            <a:ext cx="169164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7296912" y="10515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EA5E9"/>
                </a:solidFill>
              </a:rPr>
              <a:t>FK  Foreign Key</a:t>
            </a:r>
            <a:endParaRPr lang="en-US" sz="750" dirty="0"/>
          </a:p>
        </p:txBody>
      </p:sp>
      <p:sp>
        <p:nvSpPr>
          <p:cNvPr id="182" name="Shape 180"/>
          <p:cNvSpPr/>
          <p:nvPr/>
        </p:nvSpPr>
        <p:spPr>
          <a:xfrm>
            <a:off x="7269480" y="1289304"/>
            <a:ext cx="169164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7296912" y="130759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─ ─  Relationship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Types &amp; Key Relationships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2743200" cy="1883664"/>
          </a:xfrm>
          <a:prstGeom prst="rect">
            <a:avLst/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85800"/>
            <a:ext cx="2743200" cy="31089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8580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CallStatus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" y="1097280"/>
            <a:ext cx="128016" cy="12801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0332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queued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" y="1289304"/>
            <a:ext cx="2743200" cy="25603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353312"/>
            <a:ext cx="128016" cy="12801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12893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in_progress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8328" y="1609344"/>
            <a:ext cx="128016" cy="12801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5453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completed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1801368"/>
            <a:ext cx="2743200" cy="25603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865376"/>
            <a:ext cx="128016" cy="12801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18013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failed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8328" y="2121408"/>
            <a:ext cx="128016" cy="12801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20574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no_answer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2313432"/>
            <a:ext cx="2743200" cy="25603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2377440"/>
            <a:ext cx="128016" cy="12801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" y="23134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busy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0" y="685800"/>
            <a:ext cx="2743200" cy="162763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685800"/>
            <a:ext cx="274320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68580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CallOutcome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10128" y="109728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11296" y="10332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unknown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0" y="1289304"/>
            <a:ext cx="2743200" cy="25603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10128" y="135331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11296" y="12893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interested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10128" y="160934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11296" y="15453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not_interested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0" y="1801368"/>
            <a:ext cx="2743200" cy="25603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10128" y="186537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11296" y="18013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site_visit_requested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10128" y="212140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11296" y="20574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callback_requested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72200" y="685800"/>
            <a:ext cx="2743200" cy="1627632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685800"/>
            <a:ext cx="2743200" cy="31089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68580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ProspectStatus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81928" y="109728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83096" y="10332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pending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72200" y="1289304"/>
            <a:ext cx="2743200" cy="25603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81928" y="135331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83096" y="12893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contacted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81928" y="1609344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83096" y="15453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interested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72200" y="1801368"/>
            <a:ext cx="2743200" cy="25603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81928" y="1865376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83096" y="18013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not_interested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281928" y="2121408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83096" y="20574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site_visit_scheduled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28600" y="2697480"/>
            <a:ext cx="27432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8600" y="2697480"/>
            <a:ext cx="2743200" cy="3108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269748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CampaignStatus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38328" y="3108960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9496" y="30449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draft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28600" y="3300984"/>
            <a:ext cx="2743200" cy="25603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8328" y="3364992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9496" y="330098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active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38328" y="3621024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9496" y="35570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paused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28600" y="3813048"/>
            <a:ext cx="2743200" cy="25603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8328" y="3877056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9496" y="38130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completed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00400" y="2697480"/>
            <a:ext cx="27432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00400" y="2697480"/>
            <a:ext cx="2743200" cy="3108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91840" y="269748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CampaignType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310128" y="3108960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11296" y="30449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launch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200400" y="3300984"/>
            <a:ext cx="2743200" cy="25603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310128" y="336499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511296" y="330098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offer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310128" y="3621024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511296" y="35570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follow_up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200400" y="3813048"/>
            <a:ext cx="2743200" cy="25603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310128" y="3877056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511296" y="38130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site_visit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28600" y="4343400"/>
            <a:ext cx="86868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02920" y="4416552"/>
            <a:ext cx="1280160" cy="457200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2920" y="44165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6 Tables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1947672" y="4416552"/>
            <a:ext cx="1280160" cy="457200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947672" y="44165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5 Enum Types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392424" y="4416552"/>
            <a:ext cx="1280160" cy="45720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392424" y="44165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8 API Endpoints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837176" y="4416552"/>
            <a:ext cx="1280160" cy="457200"/>
          </a:xfrm>
          <a:prstGeom prst="rect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37176" y="44165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3F5E"/>
                </a:solidFill>
              </a:rPr>
              <a:t>3 External Services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281928" y="4416552"/>
            <a:ext cx="1280160" cy="45720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281928" y="44165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JWT Auth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7726680" y="4416552"/>
            <a:ext cx="1280160" cy="457200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726680" y="44165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Background Tasks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PropCaller – System Diagrams</dc:title>
  <dc:subject>PptxGenJS Presentation</dc:subject>
  <dc:creator>PptxGenJS</dc:creator>
  <cp:lastModifiedBy>PptxGenJS</cp:lastModifiedBy>
  <cp:revision>1</cp:revision>
  <dcterms:created xsi:type="dcterms:W3CDTF">2026-03-12T05:56:38Z</dcterms:created>
  <dcterms:modified xsi:type="dcterms:W3CDTF">2026-03-12T05:56:38Z</dcterms:modified>
</cp:coreProperties>
</file>